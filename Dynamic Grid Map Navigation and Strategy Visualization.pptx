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Noto Sans TC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807A15-67B2-4093-80FE-A7E96E7B319B}">
  <a:tblStyle styleId="{B4807A15-67B2-4093-80FE-A7E96E7B319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otoSansTC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NotoSansTC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20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20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4.png"/><Relationship Id="rId8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7117" y="719137"/>
            <a:ext cx="3077765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255519" y="2147887"/>
            <a:ext cx="7680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動態網格地圖導航與策略視覺化系統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08932" y="2947987"/>
            <a:ext cx="557413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基於深度強化學習 (DRL) 的端到端可解釋性互動平台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1000" y="6596050"/>
            <a:ext cx="2522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© National Chung Hsing University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143649" y="6596050"/>
            <a:ext cx="84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 / 20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557126" y="4681737"/>
            <a:ext cx="9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授課</a:t>
            </a: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教授：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533901" y="4681737"/>
            <a:ext cx="9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陳煥 老師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557125" y="4267287"/>
            <a:ext cx="90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研究生：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5533900" y="4267275"/>
            <a:ext cx="169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黃凱誠、陳劭奇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報告大綱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81000" y="6586537"/>
            <a:ext cx="3067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動態網格地圖導航與策略視覺化系統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143648" y="6596050"/>
            <a:ext cx="92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2 / 20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17716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Ch. 1 研究動機與背景 (Motivation)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21717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Ch. 2 相關研究回顧 (Related Works)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57250" y="25717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Ch. 3 系統架構與提案方法 (Proposed Method)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29718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Ch. 4 實驗結果與效能分析 (Experimental Results)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33718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Ch. 5 結論與未來展望 (Conclusion)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717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17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18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71850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4690169" y="2447925"/>
            <a:ext cx="29522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CAA0"/>
                </a:solidFill>
                <a:latin typeface="Noto Sans TC"/>
                <a:ea typeface="Noto Sans TC"/>
                <a:cs typeface="Noto Sans TC"/>
                <a:sym typeface="Noto Sans TC"/>
              </a:rPr>
              <a:t>Chapter 1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190699" y="3648075"/>
            <a:ext cx="493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Noto Sans TC"/>
                <a:ea typeface="Noto Sans TC"/>
                <a:cs typeface="Noto Sans TC"/>
                <a:sym typeface="Noto Sans TC"/>
              </a:rPr>
              <a:t>研究動機與背景 (Motivation)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716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研究背景：自動化倉儲與物流導航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381000" y="6596050"/>
            <a:ext cx="2004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Motivation (1/3)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1143649" y="6596050"/>
            <a:ext cx="87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4 / 20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1943100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隨著工業 4.0 的推進，自動化導航機器人 (AMR) 已成為核心技術：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7811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57250" y="23717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高效率需求：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機器人需在複雜網格中尋找最短路徑。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57250" y="27717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動態性挑戰：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傳統導航難以即時應對移動中的障礙物。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57250" y="31718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規模化難度：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當機器人數量增加時，決策維度呈幾何級數增長。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3717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77177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171825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5425"/>
            <a:ext cx="110490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6700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381000" y="771525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核心痛點：AI 決策的黑盒子困境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381000" y="1285875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81000" y="6596050"/>
            <a:ext cx="2238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Motivation (2/3)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1143649" y="6596050"/>
            <a:ext cx="86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5 / 20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09625" y="1857375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"為什麼 AI 會在這裡選擇左轉而非右轉？"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266700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透明度缺失：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DRL 模型的決策過程往往不透明，難以被人類操作員理解。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3324225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安全性隱憂：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在工業環境下，無法解釋的行為會降低人類對系統的信任度。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57250" y="39814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除錯困難：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當導航失敗時，開發者難以判斷是獎勵函數設計不當還是環境模型失真。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2676525"/>
            <a:ext cx="531495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6670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242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981450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3555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771650"/>
            <a:ext cx="35559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771650"/>
            <a:ext cx="3556099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研究目標與專案規劃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381000" y="6596050"/>
            <a:ext cx="115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Motivation (3/3)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143649" y="6596050"/>
            <a:ext cx="90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6 / 20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2000250"/>
            <a:ext cx="33336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端到端導航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2419350"/>
            <a:ext cx="3174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建立基於 DRL 的穩健導航系統，達成 95% 以上導航成功率。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508450" y="2000250"/>
            <a:ext cx="333369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策略視覺化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508450" y="2419350"/>
            <a:ext cx="31749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導入 SHAP 技術，將 AI 的抽象 Q 值轉換為人類可理解的熱圖。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254900" y="2000250"/>
            <a:ext cx="3333854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即時除錯介面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254900" y="2419350"/>
            <a:ext cx="31750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開發互動平台，允許在 50ms 內即時渲染決策依據。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4690169" y="2447925"/>
            <a:ext cx="29522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CAA0"/>
                </a:solidFill>
                <a:latin typeface="Noto Sans TC"/>
                <a:ea typeface="Noto Sans TC"/>
                <a:cs typeface="Noto Sans TC"/>
                <a:sym typeface="Noto Sans TC"/>
              </a:rPr>
              <a:t>Chapter 2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041124" y="3648075"/>
            <a:ext cx="48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Noto Sans TC"/>
                <a:ea typeface="Noto Sans TC"/>
                <a:cs typeface="Noto Sans TC"/>
                <a:sym typeface="Noto Sans TC"/>
              </a:rPr>
              <a:t>相關研究回顧 (Related Works)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傳統路徑規劃演算法之侷限</a:t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81000" y="6596050"/>
            <a:ext cx="1677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Related Works (1/3)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11143648" y="6596050"/>
            <a:ext cx="925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8 / 20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286500" y="2342850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A* 與 Dijkstra 演算法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572250" y="259050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優點：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靜態環境下能保證找到最短路徑。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572250" y="2990550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缺點：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05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90550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239000" y="3247725"/>
            <a:ext cx="438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動態重規劃開銷大。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7239000" y="3647775"/>
            <a:ext cx="438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難以處理複雜的高維狀態。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239000" y="4047825"/>
            <a:ext cx="438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無法從環境經驗中自我學習。</a:t>
            </a:r>
            <a:endParaRPr/>
          </a:p>
        </p:txBody>
      </p:sp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3250" y="32477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3250" y="364777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3250" y="40478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1000" y="2342838"/>
            <a:ext cx="5654025" cy="314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716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71875"/>
            <a:ext cx="5334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DRL 的演進：從 DQN 到 D3QN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81000" y="6596050"/>
            <a:ext cx="184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Related Works (2/3)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11143649" y="6596050"/>
            <a:ext cx="89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9 / 20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1943100"/>
            <a:ext cx="533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強化學習在導航中的應用進程：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96025" y="17811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857250" y="23717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DQN (2015)：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成功結合 CNN 與 Q-Learning。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857250" y="27717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Double DQN：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修正了 Q 值過度估計的問題。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57250" y="317182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Dueling Network：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分離狀態價值 ($V$) 與動作優勢 ($A$)。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09625" y="393382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本研究選擇 **D3QN** 架構，以確保在不穩定網格環境下的訓練穩定性。</a:t>
            </a:r>
            <a:endParaRPr/>
          </a:p>
        </p:txBody>
      </p:sp>
      <p:pic>
        <p:nvPicPr>
          <p:cNvPr descr="image.png" id="225" name="Google Shape;22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3717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77177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171825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可解釋性技術：SHAP 技術原理</a:t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381000" y="6596050"/>
            <a:ext cx="1571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Related Works (3/3)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11069554" y="6596050"/>
            <a:ext cx="1006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10 / 20</a:t>
            </a:r>
            <a:endParaRPr/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7811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6286500" y="1771650"/>
            <a:ext cx="56007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Shapley Additive Explanations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572250" y="19812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基於賽局理論的數值分配方法。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6572250" y="23812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公平分配：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將模型輸出精確歸因於各個輸入特徵（如雷達距離、障礙物座標）。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572250" y="3038475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全域與局部：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既能解釋單次移動行為，也能分析整體決策傾向。</a:t>
            </a:r>
            <a:endParaRPr/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19812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3812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3038475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導航方法綜合對比分析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5" name="Google Shape;255;p23"/>
          <p:cNvGraphicFramePr/>
          <p:nvPr/>
        </p:nvGraphicFramePr>
        <p:xfrm>
          <a:off x="571500" y="1962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{B4807A15-67B2-4093-80FE-A7E96E7B319B}</a:tableStyleId>
              </a:tblPr>
              <a:tblGrid>
                <a:gridCol w="3021200"/>
                <a:gridCol w="1736675"/>
                <a:gridCol w="1484125"/>
                <a:gridCol w="2227800"/>
                <a:gridCol w="2579200"/>
              </a:tblGrid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方法分類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動態適應力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運算效率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可解釋性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主要缺點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傳統 A*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低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高 (顯式節點)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環境變動需重算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基礎 DQN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極高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極低 (黑箱)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Q 值過估計/不穩定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本研究 (D3QN+SHAP)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極高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極高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高 (熱圖視覺化)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訓練開銷較大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6" name="Google Shape;256;p23"/>
          <p:cNvSpPr txBox="1"/>
          <p:nvPr/>
        </p:nvSpPr>
        <p:spPr>
          <a:xfrm>
            <a:off x="381000" y="6596050"/>
            <a:ext cx="244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Related Works Summary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11079498" y="6596050"/>
            <a:ext cx="932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11 / 20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71500" y="2871787"/>
            <a:ext cx="3021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592710" y="2871787"/>
            <a:ext cx="173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329386" y="2871787"/>
            <a:ext cx="1484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813500" y="2871787"/>
            <a:ext cx="22278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9041308" y="2871787"/>
            <a:ext cx="2579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3309937"/>
            <a:ext cx="3021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3592710" y="3309937"/>
            <a:ext cx="173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329386" y="3309937"/>
            <a:ext cx="1484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6813500" y="3309937"/>
            <a:ext cx="22278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9041308" y="3309937"/>
            <a:ext cx="2579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571500" y="3748087"/>
            <a:ext cx="30212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592710" y="3748087"/>
            <a:ext cx="173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329386" y="3748087"/>
            <a:ext cx="14841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813500" y="3748087"/>
            <a:ext cx="22278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9041308" y="3748087"/>
            <a:ext cx="25791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4690169" y="2447925"/>
            <a:ext cx="29522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CAA0"/>
                </a:solidFill>
                <a:latin typeface="Noto Sans TC"/>
                <a:ea typeface="Noto Sans TC"/>
                <a:cs typeface="Noto Sans TC"/>
                <a:sym typeface="Noto Sans TC"/>
              </a:rPr>
              <a:t>Chapter 3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3377500" y="3648075"/>
            <a:ext cx="5888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Noto Sans TC"/>
                <a:ea typeface="Noto Sans TC"/>
                <a:cs typeface="Noto Sans TC"/>
                <a:sym typeface="Noto Sans TC"/>
              </a:rPr>
              <a:t>系統架構與提案方法 (Proposed Method)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716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5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系統總體架構 (System Architecture)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381000" y="6596050"/>
            <a:ext cx="183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Proposed Method (1/3)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1069553" y="6596050"/>
            <a:ext cx="90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13 / 20</a:t>
            </a:r>
            <a:endParaRPr/>
          </a:p>
        </p:txBody>
      </p:sp>
      <p:sp>
        <p:nvSpPr>
          <p:cNvPr id="291" name="Google Shape;291;p25"/>
          <p:cNvSpPr txBox="1"/>
          <p:nvPr/>
        </p:nvSpPr>
        <p:spPr>
          <a:xfrm>
            <a:off x="857250" y="17716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感測層：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網格座標與局部 5x5 雷達掃描。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857250" y="21717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決策層：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Dueling Double DQN 核心模組。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857250" y="25717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解釋層：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SHAP Kernel 即時決策權重計算。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857250" y="29718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互動層：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網格熱圖與策略向量渲染。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7486054" y="3067050"/>
            <a:ext cx="293489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[ 系統架構流程圖 ]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Sensor Data → D3QN Policy → Action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SHAP Explainer → Heatmap</a:t>
            </a:r>
            <a:endParaRPr/>
          </a:p>
        </p:txBody>
      </p:sp>
      <p:pic>
        <p:nvPicPr>
          <p:cNvPr descr="image.png" id="296" name="Google Shape;29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7716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717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5717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71800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110490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43225"/>
            <a:ext cx="53340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6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MDP 模型建立與建模細節</a:t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 txBox="1"/>
          <p:nvPr/>
        </p:nvSpPr>
        <p:spPr>
          <a:xfrm>
            <a:off x="381000" y="6596050"/>
            <a:ext cx="1571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Proposed Method (2/3)</a:t>
            </a:r>
            <a:endParaRPr/>
          </a:p>
        </p:txBody>
      </p:sp>
      <p:sp>
        <p:nvSpPr>
          <p:cNvPr id="311" name="Google Shape;311;p26"/>
          <p:cNvSpPr txBox="1"/>
          <p:nvPr/>
        </p:nvSpPr>
        <p:spPr>
          <a:xfrm>
            <a:off x="11069554" y="6596050"/>
            <a:ext cx="97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14 / 20</a:t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809625" y="2133600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馬可夫決策過程 (Markov Decision Process, MDP)</a:t>
            </a:r>
            <a:endParaRPr/>
          </a:p>
        </p:txBody>
      </p:sp>
      <p:sp>
        <p:nvSpPr>
          <p:cNvPr id="313" name="Google Shape;313;p26"/>
          <p:cNvSpPr txBox="1"/>
          <p:nvPr/>
        </p:nvSpPr>
        <p:spPr>
          <a:xfrm>
            <a:off x="6477000" y="313372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狀態轉換公式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6477000" y="3857625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本研究環境假設為具有隨機擾動的網格模型。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857250" y="2943225"/>
            <a:ext cx="50482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State (S)：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857250" y="4400550"/>
            <a:ext cx="5048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Action (A)：</a:t>
            </a:r>
            <a:endParaRPr/>
          </a:p>
        </p:txBody>
      </p:sp>
      <p:pic>
        <p:nvPicPr>
          <p:cNvPr descr="image.png" id="317" name="Google Shape;31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72250" y="3476625"/>
            <a:ext cx="4762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8" name="Google Shape;31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943225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00550"/>
            <a:ext cx="11861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6"/>
          <p:cNvSpPr txBox="1"/>
          <p:nvPr/>
        </p:nvSpPr>
        <p:spPr>
          <a:xfrm>
            <a:off x="1524000" y="3200400"/>
            <a:ext cx="438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機器人座標 $(x, y)$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1524000" y="3600450"/>
            <a:ext cx="438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目標點距離向量 $\vec{d}$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1524000" y="4000500"/>
            <a:ext cx="438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局部障礙物矩陣 $M_{local}$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1524000" y="4657725"/>
            <a:ext cx="43815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離散 8 方向移動 + Stop</a:t>
            </a:r>
            <a:endParaRPr/>
          </a:p>
        </p:txBody>
      </p:sp>
      <p:pic>
        <p:nvPicPr>
          <p:cNvPr descr="image.png" id="324" name="Google Shape;32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32004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36004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40005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8250" y="4657725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2" name="Google Shape;3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獎勵函數設計 (Reward Shaping)</a:t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 txBox="1"/>
          <p:nvPr/>
        </p:nvSpPr>
        <p:spPr>
          <a:xfrm>
            <a:off x="381000" y="6596050"/>
            <a:ext cx="155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Proposed Method (3/3)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11069553" y="6596050"/>
            <a:ext cx="921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15 / 20</a:t>
            </a:r>
            <a:endParaRPr/>
          </a:p>
        </p:txBody>
      </p:sp>
      <p:pic>
        <p:nvPicPr>
          <p:cNvPr descr="image.png" id="338" name="Google Shape;33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" y="2057400"/>
            <a:ext cx="10477500" cy="16832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7"/>
          <p:cNvSpPr txBox="1"/>
          <p:nvPr/>
        </p:nvSpPr>
        <p:spPr>
          <a:xfrm>
            <a:off x="857250" y="2797224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到達獎勵 ($R_{goal}$)：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+100。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857250" y="3197274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導航勢能獎勵：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鼓勵機器人持續縮短與目標距離。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857250" y="3597324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碰撞懲罰 ($P_{collision}$)：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-200，以強制模型避障。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857250" y="3997374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能量消耗懲罰：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每一步給予 -0.1，以求最短路徑。</a:t>
            </a:r>
            <a:endParaRPr/>
          </a:p>
        </p:txBody>
      </p:sp>
      <p:pic>
        <p:nvPicPr>
          <p:cNvPr descr="image.png" id="343" name="Google Shape;34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97224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97274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97324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7374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4690169" y="2447925"/>
            <a:ext cx="29522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CAA0"/>
                </a:solidFill>
                <a:latin typeface="Noto Sans TC"/>
                <a:ea typeface="Noto Sans TC"/>
                <a:cs typeface="Noto Sans TC"/>
                <a:sym typeface="Noto Sans TC"/>
              </a:rPr>
              <a:t>Chapter 4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3140575" y="3648075"/>
            <a:ext cx="634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Noto Sans TC"/>
                <a:ea typeface="Noto Sans TC"/>
                <a:cs typeface="Noto Sans TC"/>
                <a:sym typeface="Noto Sans TC"/>
              </a:rPr>
              <a:t>實驗結果與效能分析 (Experimental Results)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8" name="Google Shape;35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716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9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實驗環境參數與軟硬體設定</a:t>
            </a:r>
            <a:endParaRPr/>
          </a:p>
        </p:txBody>
      </p:sp>
      <p:sp>
        <p:nvSpPr>
          <p:cNvPr id="362" name="Google Shape;362;p29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 txBox="1"/>
          <p:nvPr/>
        </p:nvSpPr>
        <p:spPr>
          <a:xfrm>
            <a:off x="381000" y="6596050"/>
            <a:ext cx="1925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Experimental Results (1/</a:t>
            </a:r>
            <a:r>
              <a:rPr lang="en-US" sz="105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2</a:t>
            </a: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)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11069553" y="6596050"/>
            <a:ext cx="92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17 / 20</a:t>
            </a:r>
            <a:endParaRPr/>
          </a:p>
        </p:txBody>
      </p:sp>
      <p:graphicFrame>
        <p:nvGraphicFramePr>
          <p:cNvPr id="365" name="Google Shape;365;p29"/>
          <p:cNvGraphicFramePr/>
          <p:nvPr/>
        </p:nvGraphicFramePr>
        <p:xfrm>
          <a:off x="571500" y="1962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{B4807A15-67B2-4093-80FE-A7E96E7B319B}</a:tableStyleId>
              </a:tblPr>
              <a:tblGrid>
                <a:gridCol w="2538700"/>
                <a:gridCol w="2795300"/>
              </a:tblGrid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參數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設定值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硬體設備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NVIDIA RTX 4090 GPU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深度學習框架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PyTorch 2.1 / Gymnasium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網格地圖規模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20 x 20 / 50 x 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障礙物密度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15% - 30% (隨機生成)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學習率 (Learning Rate)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Noto Sans TC"/>
                          <a:ea typeface="Noto Sans TC"/>
                          <a:cs typeface="Noto Sans TC"/>
                          <a:sym typeface="Noto Sans TC"/>
                        </a:rPr>
                        <a:t>0.0003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366" name="Google Shape;36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7811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9"/>
          <p:cNvSpPr/>
          <p:nvPr/>
        </p:nvSpPr>
        <p:spPr>
          <a:xfrm>
            <a:off x="571500" y="2871787"/>
            <a:ext cx="2538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3110210" y="2871787"/>
            <a:ext cx="2795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571500" y="3309937"/>
            <a:ext cx="2538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3110210" y="3309937"/>
            <a:ext cx="2795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571500" y="3748087"/>
            <a:ext cx="2538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3110210" y="3748087"/>
            <a:ext cx="2795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571500" y="4186237"/>
            <a:ext cx="2538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3110210" y="4186237"/>
            <a:ext cx="2795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571500" y="4624387"/>
            <a:ext cx="253871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3110210" y="4624387"/>
            <a:ext cx="27952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71650"/>
            <a:ext cx="1219200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29025"/>
            <a:ext cx="110490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0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導航成功率對比分析</a:t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0"/>
          <p:cNvSpPr txBox="1"/>
          <p:nvPr/>
        </p:nvSpPr>
        <p:spPr>
          <a:xfrm>
            <a:off x="381000" y="6596050"/>
            <a:ext cx="2338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Experimental Results (2/</a:t>
            </a:r>
            <a:r>
              <a:rPr lang="en-US" sz="105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2</a:t>
            </a: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)</a:t>
            </a:r>
            <a:endParaRPr/>
          </a:p>
        </p:txBody>
      </p:sp>
      <p:sp>
        <p:nvSpPr>
          <p:cNvPr id="388" name="Google Shape;388;p30"/>
          <p:cNvSpPr txBox="1"/>
          <p:nvPr/>
        </p:nvSpPr>
        <p:spPr>
          <a:xfrm>
            <a:off x="11069555" y="6596050"/>
            <a:ext cx="1041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18 / 20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809625" y="3990975"/>
            <a:ext cx="10620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結論：</a:t>
            </a: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 本研究模型在「動態環境」下的穩定性顯著優於傳統 DQN，並在 2000 個訓練回合內達成快速收斂。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4" name="Google Shape;39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1"/>
          <p:cNvSpPr txBox="1"/>
          <p:nvPr/>
        </p:nvSpPr>
        <p:spPr>
          <a:xfrm>
            <a:off x="4690169" y="2447925"/>
            <a:ext cx="2952243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1CAA0"/>
                </a:solidFill>
                <a:latin typeface="Noto Sans TC"/>
                <a:ea typeface="Noto Sans TC"/>
                <a:cs typeface="Noto Sans TC"/>
                <a:sym typeface="Noto Sans TC"/>
              </a:rPr>
              <a:t>Chapter 5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4131326" y="3648075"/>
            <a:ext cx="459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3F0DF"/>
                </a:solidFill>
                <a:latin typeface="Noto Sans TC"/>
                <a:ea typeface="Noto Sans TC"/>
                <a:cs typeface="Noto Sans TC"/>
                <a:sym typeface="Noto Sans TC"/>
              </a:rPr>
              <a:t>結論與未來展望 (Conclusion)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1" name="Google Shape;40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477000"/>
            <a:ext cx="12192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2"/>
          <p:cNvSpPr txBox="1"/>
          <p:nvPr/>
        </p:nvSpPr>
        <p:spPr>
          <a:xfrm>
            <a:off x="381000" y="1047750"/>
            <a:ext cx="11811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結論與 Q &amp; A</a:t>
            </a:r>
            <a:endParaRPr/>
          </a:p>
        </p:txBody>
      </p:sp>
      <p:sp>
        <p:nvSpPr>
          <p:cNvPr id="404" name="Google Shape;404;p32"/>
          <p:cNvSpPr/>
          <p:nvPr/>
        </p:nvSpPr>
        <p:spPr>
          <a:xfrm>
            <a:off x="381000" y="1562100"/>
            <a:ext cx="11430000" cy="1905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2"/>
          <p:cNvSpPr txBox="1"/>
          <p:nvPr/>
        </p:nvSpPr>
        <p:spPr>
          <a:xfrm>
            <a:off x="381000" y="6586537"/>
            <a:ext cx="1733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50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Q &amp; A</a:t>
            </a:r>
            <a:endParaRPr/>
          </a:p>
        </p:txBody>
      </p:sp>
      <p:sp>
        <p:nvSpPr>
          <p:cNvPr id="406" name="Google Shape;406;p32"/>
          <p:cNvSpPr txBox="1"/>
          <p:nvPr/>
        </p:nvSpPr>
        <p:spPr>
          <a:xfrm>
            <a:off x="11069553" y="6596050"/>
            <a:ext cx="91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Noto Sans TC"/>
                <a:ea typeface="Noto Sans TC"/>
                <a:cs typeface="Noto Sans TC"/>
                <a:sym typeface="Noto Sans TC"/>
              </a:rPr>
              <a:t>Slide 20 / 20</a:t>
            </a:r>
            <a:endParaRPr/>
          </a:p>
        </p:txBody>
      </p:sp>
      <p:sp>
        <p:nvSpPr>
          <p:cNvPr id="407" name="Google Shape;407;p32"/>
          <p:cNvSpPr txBox="1"/>
          <p:nvPr/>
        </p:nvSpPr>
        <p:spPr>
          <a:xfrm>
            <a:off x="571500" y="1771650"/>
            <a:ext cx="5600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5088"/>
                </a:solidFill>
                <a:latin typeface="Noto Sans TC"/>
                <a:ea typeface="Noto Sans TC"/>
                <a:cs typeface="Noto Sans TC"/>
                <a:sym typeface="Noto Sans TC"/>
              </a:rPr>
              <a:t>主要貢獻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857250" y="20193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成功實作穩健的端到端 D3QN 網格導航。</a:t>
            </a:r>
            <a:endParaRPr/>
          </a:p>
        </p:txBody>
      </p:sp>
      <p:sp>
        <p:nvSpPr>
          <p:cNvPr id="409" name="Google Shape;409;p32"/>
          <p:cNvSpPr txBox="1"/>
          <p:nvPr/>
        </p:nvSpPr>
        <p:spPr>
          <a:xfrm>
            <a:off x="857250" y="241935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結合 SHAP 技術，突破 AI 導航的「黑盒」瓶頸。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857250" y="2819400"/>
            <a:ext cx="5048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Noto Sans TC"/>
                <a:ea typeface="Noto Sans TC"/>
                <a:cs typeface="Noto Sans TC"/>
                <a:sym typeface="Noto Sans TC"/>
              </a:rPr>
              <a:t>視覺化介面有效提升人類操作員的系統信任度。</a:t>
            </a:r>
            <a:endParaRPr/>
          </a:p>
        </p:txBody>
      </p:sp>
      <p:pic>
        <p:nvPicPr>
          <p:cNvPr descr="image.png" id="411" name="Google Shape;41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1930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19350"/>
            <a:ext cx="118616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19400"/>
            <a:ext cx="118616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